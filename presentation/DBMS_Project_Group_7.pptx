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9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50B840-F4D1-43A4-8F93-C14779544495}" v="19" dt="2025-04-11T23:07:54.3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F7CE-11B2-4C0D-8246-1E2E433EE15A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4B57-AD01-4C0D-974C-178EC95D624B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96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F7CE-11B2-4C0D-8246-1E2E433EE15A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4B57-AD01-4C0D-974C-178EC95D62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155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F7CE-11B2-4C0D-8246-1E2E433EE15A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4B57-AD01-4C0D-974C-178EC95D624B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705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F7CE-11B2-4C0D-8246-1E2E433EE15A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4B57-AD01-4C0D-974C-178EC95D62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072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F7CE-11B2-4C0D-8246-1E2E433EE15A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4B57-AD01-4C0D-974C-178EC95D62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562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F7CE-11B2-4C0D-8246-1E2E433EE15A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4B57-AD01-4C0D-974C-178EC95D62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234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F7CE-11B2-4C0D-8246-1E2E433EE15A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4B57-AD01-4C0D-974C-178EC95D62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564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C6AF7CE-11B2-4C0D-8246-1E2E433EE15A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024B57-AD01-4C0D-974C-178EC95D62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70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F7CE-11B2-4C0D-8246-1E2E433EE15A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4B57-AD01-4C0D-974C-178EC95D62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835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F7CE-11B2-4C0D-8246-1E2E433EE15A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4B57-AD01-4C0D-974C-178EC95D62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514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F7CE-11B2-4C0D-8246-1E2E433EE15A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4B57-AD01-4C0D-974C-178EC95D62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080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C6AF7CE-11B2-4C0D-8246-1E2E433EE15A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E024B57-AD01-4C0D-974C-178EC95D624B}" type="slidenum">
              <a:rPr lang="en-CA" smtClean="0"/>
              <a:t>‹#›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221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4FACB-A66E-2D04-8A08-7526E904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tx1"/>
                </a:solidFill>
              </a:rPr>
              <a:t>DBMS Project – Group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A7E44-3582-1FE7-3932-62D59CE15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Group Members</a:t>
            </a:r>
            <a:r>
              <a:rPr lang="en-US" dirty="0"/>
              <a:t>:</a:t>
            </a:r>
          </a:p>
          <a:p>
            <a:pPr marL="320040" indent="-457200">
              <a:buFont typeface="+mj-lt"/>
              <a:buAutoNum type="arabicPeriod"/>
            </a:pPr>
            <a:r>
              <a:rPr lang="en-US" dirty="0"/>
              <a:t>Neel Paresh Solanki</a:t>
            </a:r>
          </a:p>
          <a:p>
            <a:pPr marL="320040" indent="-457200">
              <a:buFont typeface="+mj-lt"/>
              <a:buAutoNum type="arabicPeriod"/>
            </a:pPr>
            <a:r>
              <a:rPr lang="en-US" dirty="0"/>
              <a:t>Vimal </a:t>
            </a:r>
            <a:r>
              <a:rPr lang="en-US" dirty="0" err="1"/>
              <a:t>Shantibhai</a:t>
            </a:r>
            <a:r>
              <a:rPr lang="en-US" dirty="0"/>
              <a:t> Lakhani</a:t>
            </a:r>
          </a:p>
          <a:p>
            <a:pPr marL="320040" indent="-457200">
              <a:buFont typeface="+mj-lt"/>
              <a:buAutoNum type="arabicPeriod"/>
            </a:pPr>
            <a:r>
              <a:rPr lang="en-US" dirty="0"/>
              <a:t>Pratham </a:t>
            </a:r>
            <a:r>
              <a:rPr lang="en-US" dirty="0" err="1"/>
              <a:t>Milankumar</a:t>
            </a:r>
            <a:r>
              <a:rPr lang="en-US" dirty="0"/>
              <a:t> Doshi</a:t>
            </a:r>
          </a:p>
          <a:p>
            <a:pPr marL="320040" indent="-457200">
              <a:buFont typeface="+mj-lt"/>
              <a:buAutoNum type="arabicPeriod"/>
            </a:pPr>
            <a:r>
              <a:rPr lang="en-US" dirty="0"/>
              <a:t>Rakshit Khanna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27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0D2601-250C-BC87-EB0A-94EFC49AF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252500"/>
              </p:ext>
            </p:extLst>
          </p:nvPr>
        </p:nvGraphicFramePr>
        <p:xfrm>
          <a:off x="2218912" y="1466543"/>
          <a:ext cx="7595182" cy="4571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7591">
                  <a:extLst>
                    <a:ext uri="{9D8B030D-6E8A-4147-A177-3AD203B41FA5}">
                      <a16:colId xmlns:a16="http://schemas.microsoft.com/office/drawing/2014/main" val="242210956"/>
                    </a:ext>
                  </a:extLst>
                </a:gridCol>
                <a:gridCol w="3797591">
                  <a:extLst>
                    <a:ext uri="{9D8B030D-6E8A-4147-A177-3AD203B41FA5}">
                      <a16:colId xmlns:a16="http://schemas.microsoft.com/office/drawing/2014/main" val="3696640800"/>
                    </a:ext>
                  </a:extLst>
                </a:gridCol>
              </a:tblGrid>
              <a:tr h="9142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03201"/>
                  </a:ext>
                </a:extLst>
              </a:tr>
              <a:tr h="9142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NEEL SOLANKI</a:t>
                      </a:r>
                    </a:p>
                    <a:p>
                      <a:pPr algn="ctr"/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503710"/>
                  </a:ext>
                </a:extLst>
              </a:tr>
              <a:tr h="9142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RAKSHIT KHANNA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3,6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787599"/>
                  </a:ext>
                </a:extLst>
              </a:tr>
              <a:tr h="9142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PRATHAM DOSHI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827594"/>
                  </a:ext>
                </a:extLst>
              </a:tr>
              <a:tr h="9142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VIMAL LAKHANI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5,6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4366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E4804BF-5B27-7745-7DA0-6E9EBE6A1E81}"/>
              </a:ext>
            </a:extLst>
          </p:cNvPr>
          <p:cNvSpPr txBox="1"/>
          <p:nvPr/>
        </p:nvSpPr>
        <p:spPr>
          <a:xfrm>
            <a:off x="3573839" y="558411"/>
            <a:ext cx="54375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TASK DISTRIBUTION</a:t>
            </a:r>
            <a:endParaRPr lang="en-CA" sz="4400" b="1" dirty="0"/>
          </a:p>
        </p:txBody>
      </p:sp>
    </p:spTree>
    <p:extLst>
      <p:ext uri="{BB962C8B-B14F-4D97-AF65-F5344CB8AC3E}">
        <p14:creationId xmlns:p14="http://schemas.microsoft.com/office/powerpoint/2010/main" val="90633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0E6E-3FA6-2A49-3D1C-2BCDA695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Task 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763C13-E3AA-62A1-045D-B8799F50B5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886807"/>
            <a:ext cx="713438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Creating address table, Talend job design, Oracle DB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Oracle SQL Developer, Talend, 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Lead: Neel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346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9E3B-51FF-A9CD-3FCC-93FA6413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236" y="1072148"/>
            <a:ext cx="7391400" cy="657430"/>
          </a:xfrm>
        </p:spPr>
        <p:txBody>
          <a:bodyPr>
            <a:normAutofit fontScale="90000"/>
          </a:bodyPr>
          <a:lstStyle/>
          <a:p>
            <a:r>
              <a:rPr lang="en-CA" dirty="0"/>
              <a:t>Creating Address Table</a:t>
            </a:r>
            <a:br>
              <a:rPr lang="en-CA" dirty="0"/>
            </a:br>
            <a:endParaRPr lang="en-CA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CD7FC8-CFDE-A336-D0E7-2C8FB567A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552"/>
          <a:stretch/>
        </p:blipFill>
        <p:spPr bwMode="auto">
          <a:xfrm>
            <a:off x="1231770" y="1848241"/>
            <a:ext cx="2858725" cy="38744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768214-0B6A-72D1-8FD2-FA2C534A016D}"/>
              </a:ext>
            </a:extLst>
          </p:cNvPr>
          <p:cNvSpPr txBox="1"/>
          <p:nvPr/>
        </p:nvSpPr>
        <p:spPr>
          <a:xfrm>
            <a:off x="4730798" y="2155190"/>
            <a:ext cx="70028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CREATE TABLE Address(</a:t>
            </a:r>
          </a:p>
          <a:p>
            <a:r>
              <a:rPr lang="en-CA" dirty="0"/>
              <a:t>  </a:t>
            </a:r>
            <a:r>
              <a:rPr lang="en-CA" dirty="0" err="1"/>
              <a:t>Address_ID</a:t>
            </a:r>
            <a:r>
              <a:rPr lang="en-CA" dirty="0"/>
              <a:t> NUMBER PRIMARY KEY,</a:t>
            </a:r>
          </a:p>
          <a:p>
            <a:r>
              <a:rPr lang="en-CA" dirty="0"/>
              <a:t>  </a:t>
            </a:r>
            <a:r>
              <a:rPr lang="en-CA" dirty="0" err="1"/>
              <a:t>Unit_Num</a:t>
            </a:r>
            <a:r>
              <a:rPr lang="en-CA" dirty="0"/>
              <a:t> VARCHAR2(6),</a:t>
            </a:r>
          </a:p>
          <a:p>
            <a:r>
              <a:rPr lang="en-CA" dirty="0"/>
              <a:t>  </a:t>
            </a:r>
            <a:r>
              <a:rPr lang="en-CA" dirty="0" err="1"/>
              <a:t>Street_Number</a:t>
            </a:r>
            <a:r>
              <a:rPr lang="en-CA" dirty="0"/>
              <a:t> NUMBER NOT NULL,</a:t>
            </a:r>
          </a:p>
          <a:p>
            <a:r>
              <a:rPr lang="en-CA" dirty="0"/>
              <a:t>  </a:t>
            </a:r>
            <a:r>
              <a:rPr lang="en-CA" dirty="0" err="1"/>
              <a:t>Street_Name</a:t>
            </a:r>
            <a:r>
              <a:rPr lang="en-CA" dirty="0"/>
              <a:t> VARCHAR2(24) NOT NULL,</a:t>
            </a:r>
          </a:p>
          <a:p>
            <a:r>
              <a:rPr lang="en-CA" dirty="0"/>
              <a:t>  </a:t>
            </a:r>
            <a:r>
              <a:rPr lang="en-CA" dirty="0" err="1"/>
              <a:t>Street_Type</a:t>
            </a:r>
            <a:r>
              <a:rPr lang="en-CA" dirty="0"/>
              <a:t> VARCHAR2(12) NOT NULL,</a:t>
            </a:r>
          </a:p>
          <a:p>
            <a:r>
              <a:rPr lang="en-CA" dirty="0"/>
              <a:t>  </a:t>
            </a:r>
            <a:r>
              <a:rPr lang="en-CA" dirty="0" err="1"/>
              <a:t>Street_Direction</a:t>
            </a:r>
            <a:r>
              <a:rPr lang="en-CA" dirty="0"/>
              <a:t> CHAR(1),</a:t>
            </a:r>
          </a:p>
          <a:p>
            <a:r>
              <a:rPr lang="en-CA" dirty="0"/>
              <a:t>  </a:t>
            </a:r>
            <a:r>
              <a:rPr lang="en-CA" dirty="0" err="1"/>
              <a:t>Postal_Code</a:t>
            </a:r>
            <a:r>
              <a:rPr lang="en-CA" dirty="0"/>
              <a:t> CHAR(7) NOT NULL,</a:t>
            </a:r>
          </a:p>
          <a:p>
            <a:r>
              <a:rPr lang="en-CA" dirty="0"/>
              <a:t>  City VARCHAR2(16) NOT NULL,</a:t>
            </a:r>
          </a:p>
          <a:p>
            <a:r>
              <a:rPr lang="en-CA" dirty="0"/>
              <a:t>  Province CHAR(2) NOT NULL,</a:t>
            </a:r>
          </a:p>
          <a:p>
            <a:r>
              <a:rPr lang="en-CA" dirty="0"/>
              <a:t>  CONSTRAINT </a:t>
            </a:r>
            <a:r>
              <a:rPr lang="en-CA" dirty="0" err="1"/>
              <a:t>St_Dir</a:t>
            </a:r>
            <a:r>
              <a:rPr lang="en-CA" dirty="0"/>
              <a:t> CHECK (</a:t>
            </a:r>
            <a:r>
              <a:rPr lang="en-CA" dirty="0" err="1"/>
              <a:t>Street_Direction</a:t>
            </a:r>
            <a:r>
              <a:rPr lang="en-CA" dirty="0"/>
              <a:t> IN ('E', 'W', 'N', 'S'))</a:t>
            </a:r>
          </a:p>
          <a:p>
            <a:r>
              <a:rPr lang="en-CA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4101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46BBF-B5F5-DC3B-2D91-A848EFF20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742" y="745516"/>
            <a:ext cx="5946058" cy="696759"/>
          </a:xfrm>
        </p:spPr>
        <p:txBody>
          <a:bodyPr>
            <a:normAutofit fontScale="90000"/>
          </a:bodyPr>
          <a:lstStyle/>
          <a:p>
            <a:r>
              <a:rPr lang="en-CA" sz="4400" dirty="0"/>
              <a:t>Connection on Talend</a:t>
            </a:r>
            <a:br>
              <a:rPr lang="en-CA" sz="4400" dirty="0"/>
            </a:br>
            <a:endParaRPr lang="en-CA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B94803-2D03-27D6-5C84-87CB0A518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19" y="1093895"/>
            <a:ext cx="6502189" cy="1632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CB524F-B536-A45D-8C19-0425B4BA6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629" y="2435468"/>
            <a:ext cx="6774592" cy="3620354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D93EE10C-A754-EB41-621D-1726091F5A85}"/>
              </a:ext>
            </a:extLst>
          </p:cNvPr>
          <p:cNvSpPr/>
          <p:nvPr/>
        </p:nvSpPr>
        <p:spPr>
          <a:xfrm rot="3534013">
            <a:off x="4495569" y="2378351"/>
            <a:ext cx="696507" cy="6967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5822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3FBF-60DB-E705-F1ED-B0E7C783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543" y="759346"/>
            <a:ext cx="9833457" cy="957772"/>
          </a:xfrm>
        </p:spPr>
        <p:txBody>
          <a:bodyPr>
            <a:normAutofit/>
          </a:bodyPr>
          <a:lstStyle/>
          <a:p>
            <a:r>
              <a:rPr lang="en-CA" sz="3600" dirty="0"/>
              <a:t>Address table with all values inserted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BC5721-96C2-01A4-E594-CD70B74BC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85" t="8439" r="36605" b="-961"/>
          <a:stretch/>
        </p:blipFill>
        <p:spPr bwMode="auto">
          <a:xfrm>
            <a:off x="2643897" y="1947645"/>
            <a:ext cx="5578723" cy="41510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258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6EE3-C93F-A0F1-2E4B-948ACADF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Task-2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31281C-66E6-0BA4-FF6C-F1F92ACBBD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921710"/>
            <a:ext cx="67451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CSV validation, ETL processing, foreign key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Talend, Oracle SQL Developer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Lead: Neel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33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50CB6-746A-D3CF-F3C4-5BFAD9EB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207" y="213231"/>
            <a:ext cx="7049373" cy="864585"/>
          </a:xfrm>
        </p:spPr>
        <p:txBody>
          <a:bodyPr>
            <a:normAutofit/>
          </a:bodyPr>
          <a:lstStyle/>
          <a:p>
            <a:r>
              <a:rPr lang="en-CA" dirty="0"/>
              <a:t>Creation of tables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D83586-ED65-1509-729A-2EBCA2975F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89" r="31444" b="41431"/>
          <a:stretch/>
        </p:blipFill>
        <p:spPr>
          <a:xfrm>
            <a:off x="5560859" y="2052831"/>
            <a:ext cx="4936916" cy="2752338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74DB05-22D8-D755-C24F-00760736BE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09" t="5960" r="34992" b="31268"/>
          <a:stretch/>
        </p:blipFill>
        <p:spPr>
          <a:xfrm>
            <a:off x="8759716" y="4036475"/>
            <a:ext cx="2680379" cy="2057035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B7AFB9-37A6-E93F-81A3-1395B1F3B7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1850"/>
          <a:stretch/>
        </p:blipFill>
        <p:spPr>
          <a:xfrm>
            <a:off x="252705" y="2094131"/>
            <a:ext cx="5038251" cy="315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5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1137-0E1C-9782-F3D1-216AAB2CE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CSV files (with valid &amp; invalid data)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32E4B7-E970-8E72-60EB-67A64B673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32" y="2231206"/>
            <a:ext cx="2950863" cy="3631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9F0AF2-10FB-F480-1836-84F38E6CBE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063" y="2247060"/>
            <a:ext cx="3536016" cy="3479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A6B5C5-0523-5EC3-3EB6-93CC8E859D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247" y="2247060"/>
            <a:ext cx="3920935" cy="372668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F57A80-5BB0-5F32-D13E-9CC89333C6DB}"/>
              </a:ext>
            </a:extLst>
          </p:cNvPr>
          <p:cNvSpPr txBox="1"/>
          <p:nvPr/>
        </p:nvSpPr>
        <p:spPr>
          <a:xfrm>
            <a:off x="1215192" y="1799617"/>
            <a:ext cx="258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Vimal.csv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02DBC-73C6-B2B3-6B6F-8EA2B0FD6492}"/>
              </a:ext>
            </a:extLst>
          </p:cNvPr>
          <p:cNvSpPr txBox="1"/>
          <p:nvPr/>
        </p:nvSpPr>
        <p:spPr>
          <a:xfrm>
            <a:off x="5322806" y="1781922"/>
            <a:ext cx="1240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Neel.csv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AA2E3-3B1D-0697-1A9D-FE5E2EAAC35B}"/>
              </a:ext>
            </a:extLst>
          </p:cNvPr>
          <p:cNvSpPr txBox="1"/>
          <p:nvPr/>
        </p:nvSpPr>
        <p:spPr>
          <a:xfrm>
            <a:off x="9479679" y="1800248"/>
            <a:ext cx="1676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Pratham.csv</a:t>
            </a:r>
          </a:p>
        </p:txBody>
      </p:sp>
    </p:spTree>
    <p:extLst>
      <p:ext uri="{BB962C8B-B14F-4D97-AF65-F5344CB8AC3E}">
        <p14:creationId xmlns:p14="http://schemas.microsoft.com/office/powerpoint/2010/main" val="14656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CB39-3497-0AD1-DC89-C507870CB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Talend Process</a:t>
            </a:r>
          </a:p>
        </p:txBody>
      </p:sp>
      <p:pic>
        <p:nvPicPr>
          <p:cNvPr id="4" name="Content Placeholder 3" descr="A diagram of a computer&#10;&#10;AI-generated content may be incorrect.">
            <a:extLst>
              <a:ext uri="{FF2B5EF4-FFF2-40B4-BE49-F238E27FC236}">
                <a16:creationId xmlns:a16="http://schemas.microsoft.com/office/drawing/2014/main" id="{22D400C0-3B2E-6CF0-1DFE-5606B7BC3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082" y="764373"/>
            <a:ext cx="6074819" cy="28170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372F3F-2EB4-AC89-0D5F-46F0889C766E}"/>
              </a:ext>
            </a:extLst>
          </p:cNvPr>
          <p:cNvSpPr txBox="1"/>
          <p:nvPr/>
        </p:nvSpPr>
        <p:spPr>
          <a:xfrm>
            <a:off x="519100" y="3429000"/>
            <a:ext cx="10254004" cy="2514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tMap</a:t>
            </a: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CA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Performs lookup operations using reference data from tDBInput_1 (ADDRESS) and tDBInput_2 (VOLUNTEER).</a:t>
            </a:r>
            <a:endParaRPr lang="en-CA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Validates foreign key relationships, specifically </a:t>
            </a:r>
            <a:r>
              <a:rPr lang="en-US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Address_ID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US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Volunteer_ID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CA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Routes records with valid foreign keys to the database output flow, while directing invalid records to a designated reject flow.</a:t>
            </a:r>
            <a:endParaRPr lang="en-CA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51186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E2BC0-C82E-8193-157B-7ECF99B3C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264"/>
            <a:ext cx="8610600" cy="1293028"/>
          </a:xfrm>
        </p:spPr>
        <p:txBody>
          <a:bodyPr/>
          <a:lstStyle/>
          <a:p>
            <a:r>
              <a:rPr lang="en-CA" dirty="0" err="1"/>
              <a:t>tMap</a:t>
            </a:r>
            <a:r>
              <a:rPr lang="en-CA" dirty="0"/>
              <a:t> Configuration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ED25A7-11AA-FF07-7E5C-77A7FB451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2051" y="1958128"/>
            <a:ext cx="7803811" cy="41718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12AA2F-83FA-82E8-2E17-518898B843FD}"/>
              </a:ext>
            </a:extLst>
          </p:cNvPr>
          <p:cNvSpPr txBox="1"/>
          <p:nvPr/>
        </p:nvSpPr>
        <p:spPr>
          <a:xfrm>
            <a:off x="838200" y="2238703"/>
            <a:ext cx="2609193" cy="2469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535535-2433-7CB8-59B9-8C86DF0C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38" y="1958128"/>
            <a:ext cx="5942076" cy="38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7289-A581-0905-E4A9-AD380E8F4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68" y="617790"/>
            <a:ext cx="8610600" cy="1293028"/>
          </a:xfrm>
        </p:spPr>
        <p:txBody>
          <a:bodyPr/>
          <a:lstStyle/>
          <a:p>
            <a:r>
              <a:rPr lang="en-CA" dirty="0" err="1"/>
              <a:t>tMap</a:t>
            </a:r>
            <a:r>
              <a:rPr lang="en-CA" dirty="0"/>
              <a:t> Configuration 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9165E3-C05D-080E-2977-0EF6B333A0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28" y="2086958"/>
            <a:ext cx="7186911" cy="38420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73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0A37A-A35E-2711-3FEA-7C1085253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98" y="520068"/>
            <a:ext cx="8610600" cy="1293028"/>
          </a:xfrm>
        </p:spPr>
        <p:txBody>
          <a:bodyPr/>
          <a:lstStyle/>
          <a:p>
            <a:r>
              <a:rPr lang="en-CA" dirty="0"/>
              <a:t>Output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88183A-DC4E-FED1-85E1-7156BCE01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8716" y="1946407"/>
            <a:ext cx="8528002" cy="420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9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58AA6-0D06-907F-F587-1E547C919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Task 3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FA2D4A-D9A9-60FC-F7D0-771A0D9D05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3118751"/>
            <a:ext cx="498405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Data Mart creation using Star Schema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Oracle SQL Developer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Lead: Rakshit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43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68710-78A1-E6D3-CDCC-126928BAF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00" y="436305"/>
            <a:ext cx="8610600" cy="1293028"/>
          </a:xfrm>
        </p:spPr>
        <p:txBody>
          <a:bodyPr/>
          <a:lstStyle/>
          <a:p>
            <a:r>
              <a:rPr lang="en-CA" dirty="0"/>
              <a:t>ER diagram</a:t>
            </a:r>
          </a:p>
        </p:txBody>
      </p:sp>
      <p:pic>
        <p:nvPicPr>
          <p:cNvPr id="4" name="Content Placeholder 3" descr="A diagram of a database&#10;&#10;AI-generated content may be incorrect.">
            <a:extLst>
              <a:ext uri="{FF2B5EF4-FFF2-40B4-BE49-F238E27FC236}">
                <a16:creationId xmlns:a16="http://schemas.microsoft.com/office/drawing/2014/main" id="{4109A84B-E481-D8D1-E1C5-5C5CA2A64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924" y="1854820"/>
            <a:ext cx="6588554" cy="4003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799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D33F-6BA8-0631-1F51-830C93179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204" y="444795"/>
            <a:ext cx="9844924" cy="1293028"/>
          </a:xfrm>
        </p:spPr>
        <p:txBody>
          <a:bodyPr/>
          <a:lstStyle/>
          <a:p>
            <a:r>
              <a:rPr lang="en-CA" dirty="0"/>
              <a:t>Creating </a:t>
            </a:r>
            <a:r>
              <a:rPr lang="en-CA" dirty="0" err="1"/>
              <a:t>Dimention</a:t>
            </a:r>
            <a:r>
              <a:rPr lang="en-CA" dirty="0"/>
              <a:t> tables for Datamart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07B910-7650-2001-9261-C5D137269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5" t="8088" r="48431" b="37991"/>
          <a:stretch/>
        </p:blipFill>
        <p:spPr bwMode="auto">
          <a:xfrm>
            <a:off x="442948" y="1646865"/>
            <a:ext cx="3579466" cy="287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F000CA-2A43-49E8-83DE-514763155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51" y="4811353"/>
            <a:ext cx="3891727" cy="1282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278BBA-922A-7026-4DA2-135E9E0685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09" t="11523" r="48055" b="36778"/>
          <a:stretch/>
        </p:blipFill>
        <p:spPr bwMode="auto">
          <a:xfrm>
            <a:off x="4537751" y="1836051"/>
            <a:ext cx="3384331" cy="2684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21EEDA-35C9-8670-81BA-BBC6E50C61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08" t="36594" r="59572" b="43465"/>
          <a:stretch/>
        </p:blipFill>
        <p:spPr bwMode="auto">
          <a:xfrm>
            <a:off x="4457095" y="4783601"/>
            <a:ext cx="3398920" cy="1553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A68F70-AD30-2D18-4476-2CF56F2B2E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4" t="6367" r="47524" b="31883"/>
          <a:stretch/>
        </p:blipFill>
        <p:spPr bwMode="auto">
          <a:xfrm>
            <a:off x="8437419" y="1836051"/>
            <a:ext cx="3127319" cy="2805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057F06-D005-66B7-DBB7-29E0DD5529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399" y="4838227"/>
            <a:ext cx="3317298" cy="14236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3987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BCB2-29CA-CC67-605E-139F2801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Creating Facts table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83D920-6CFB-FFA5-0383-64E9FB83F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611"/>
          <a:stretch/>
        </p:blipFill>
        <p:spPr bwMode="auto">
          <a:xfrm>
            <a:off x="659045" y="1823310"/>
            <a:ext cx="5136810" cy="426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8FB251-9347-1F0D-2E9E-B4E10B503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2939252"/>
            <a:ext cx="5567835" cy="1907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692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B768-FCA5-A6FC-9B75-5CE55A23C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6A8BD-08C7-6C1A-8898-18E7C9C59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088201"/>
            <a:ext cx="10058400" cy="13721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CA" sz="2400" dirty="0"/>
              <a:t>Inserting data into the </a:t>
            </a:r>
            <a:r>
              <a:rPr lang="en-CA" sz="2400" dirty="0" err="1"/>
              <a:t>datamart</a:t>
            </a:r>
            <a:r>
              <a:rPr lang="en-CA" sz="2400" dirty="0"/>
              <a:t> tables</a:t>
            </a:r>
            <a:endParaRPr lang="en-CA" dirty="0"/>
          </a:p>
          <a:p>
            <a:pPr marL="0" indent="0"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Lead: Pratham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43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07576-F72A-A9AC-37B9-E6AEE0303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Giving permission to </a:t>
            </a:r>
            <a:r>
              <a:rPr lang="en-US" dirty="0" err="1"/>
              <a:t>datamart</a:t>
            </a:r>
            <a:endParaRPr lang="en-CA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825ED6-450B-8AA2-A470-D64E1342A5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597" y="1846263"/>
            <a:ext cx="9051131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7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8852-2BC7-43C7-FD9E-DEAF8A56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</a:pPr>
            <a:r>
              <a:rPr lang="en-CA" sz="4400" b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Inserting Data into </a:t>
            </a:r>
            <a:r>
              <a:rPr lang="en-CA" sz="4400" b="1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DimDate</a:t>
            </a:r>
            <a:br>
              <a:rPr lang="en-CA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297E58-5F10-E9DD-2E14-B6C220119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5564"/>
            <a:ext cx="4889305" cy="39300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D40D2B-6EC5-48F9-0B09-48861F5B1ECD}"/>
              </a:ext>
            </a:extLst>
          </p:cNvPr>
          <p:cNvSpPr txBox="1"/>
          <p:nvPr/>
        </p:nvSpPr>
        <p:spPr>
          <a:xfrm>
            <a:off x="6858000" y="1550504"/>
            <a:ext cx="4780722" cy="4780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A8A4AB-097D-61B0-BE5E-EA886B102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003" y="1936408"/>
            <a:ext cx="5445841" cy="41957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596ED9-489C-F199-EDD6-6AC2AB7F2B1E}"/>
              </a:ext>
            </a:extLst>
          </p:cNvPr>
          <p:cNvSpPr txBox="1"/>
          <p:nvPr/>
        </p:nvSpPr>
        <p:spPr>
          <a:xfrm>
            <a:off x="9248361" y="3200420"/>
            <a:ext cx="26984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Extracting day, month, and year from date to insert into the </a:t>
            </a:r>
            <a:r>
              <a:rPr lang="en-US" dirty="0" err="1"/>
              <a:t>dimdate</a:t>
            </a:r>
            <a:r>
              <a:rPr lang="en-US" dirty="0"/>
              <a:t> table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3637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5C58-56A2-91F5-9FDD-7440E3B8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Dimdate</a:t>
            </a:r>
            <a:r>
              <a:rPr lang="en-US" dirty="0"/>
              <a:t> table output</a:t>
            </a:r>
            <a:endParaRPr lang="en-CA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4CD083-604D-0635-5A63-4B4B22E8A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7" t="3260" r="2466" b="4288"/>
          <a:stretch/>
        </p:blipFill>
        <p:spPr>
          <a:xfrm>
            <a:off x="1097280" y="1979317"/>
            <a:ext cx="4479951" cy="332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5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5350-97C3-EB60-A8ED-B4081F8BD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data into </a:t>
            </a:r>
            <a:r>
              <a:rPr lang="en-US" dirty="0" err="1"/>
              <a:t>dimvolunteer</a:t>
            </a:r>
            <a:r>
              <a:rPr lang="en-US" dirty="0"/>
              <a:t> table</a:t>
            </a:r>
            <a:endParaRPr lang="en-CA" dirty="0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BA10ECE-6069-478C-2CB9-0E4893BB52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604" y="1875624"/>
            <a:ext cx="4208185" cy="3871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F62D8C-9968-C3FB-2C33-76E03BCFC8C3}"/>
              </a:ext>
            </a:extLst>
          </p:cNvPr>
          <p:cNvSpPr txBox="1"/>
          <p:nvPr/>
        </p:nvSpPr>
        <p:spPr>
          <a:xfrm>
            <a:off x="5315777" y="1811895"/>
            <a:ext cx="4972878" cy="2158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</a:t>
            </a:r>
            <a:r>
              <a:rPr lang="en-CA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dimvolunteer</a:t>
            </a: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CA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volunteer_id</a:t>
            </a: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CA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volunteer_name</a:t>
            </a: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DISTINCT </a:t>
            </a:r>
            <a:r>
              <a:rPr lang="en-CA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volunteer_id</a:t>
            </a: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CA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first_name</a:t>
            </a: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|| ' ' || </a:t>
            </a:r>
            <a:r>
              <a:rPr lang="en-CA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last_name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</a:t>
            </a:r>
            <a:r>
              <a:rPr lang="en-CA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prc.volunteer</a:t>
            </a: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6C77FF-5F39-1CA0-42F9-6116A0E51B4B}"/>
              </a:ext>
            </a:extLst>
          </p:cNvPr>
          <p:cNvSpPr txBox="1"/>
          <p:nvPr/>
        </p:nvSpPr>
        <p:spPr>
          <a:xfrm>
            <a:off x="8449198" y="3105834"/>
            <a:ext cx="2922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Concatenates the first name and last name </a:t>
            </a:r>
            <a:endParaRPr lang="en-CA" dirty="0"/>
          </a:p>
        </p:txBody>
      </p:sp>
      <p:pic>
        <p:nvPicPr>
          <p:cNvPr id="7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D5AE8C-CC27-C272-81E3-8F5A62B8DD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848" r="39964" b="24093"/>
          <a:stretch/>
        </p:blipFill>
        <p:spPr>
          <a:xfrm>
            <a:off x="7983471" y="3911113"/>
            <a:ext cx="2905403" cy="20423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94B32E-D733-BDD5-ED97-51AE1B6362C9}"/>
              </a:ext>
            </a:extLst>
          </p:cNvPr>
          <p:cNvSpPr txBox="1"/>
          <p:nvPr/>
        </p:nvSpPr>
        <p:spPr>
          <a:xfrm>
            <a:off x="6949108" y="4399856"/>
            <a:ext cx="170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9288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463A3-188B-4C34-9635-12472B3DB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data into </a:t>
            </a:r>
            <a:r>
              <a:rPr lang="en-US" dirty="0" err="1"/>
              <a:t>dimaddress</a:t>
            </a:r>
            <a:r>
              <a:rPr lang="en-US" dirty="0"/>
              <a:t> table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30EF47-28F8-A0A8-9CA0-4F3290AA1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7350" y="2018118"/>
            <a:ext cx="3775681" cy="3514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DFB3BE-01E0-D397-DEC2-27B9280C2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979" y="2029535"/>
            <a:ext cx="5942076" cy="859536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2AFE51-E242-9C3B-735B-02EFBF8024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120" r="35818"/>
          <a:stretch/>
        </p:blipFill>
        <p:spPr>
          <a:xfrm>
            <a:off x="7210817" y="3230738"/>
            <a:ext cx="3642832" cy="2841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FE2E2E-F2B0-3048-D3A6-685F80DE16BA}"/>
              </a:ext>
            </a:extLst>
          </p:cNvPr>
          <p:cNvSpPr txBox="1"/>
          <p:nvPr/>
        </p:nvSpPr>
        <p:spPr>
          <a:xfrm>
            <a:off x="6132319" y="4040782"/>
            <a:ext cx="1530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5870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5EF48-C161-1B1D-3BCA-F3E5FD27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data into </a:t>
            </a:r>
            <a:r>
              <a:rPr lang="en-US" dirty="0" err="1"/>
              <a:t>factdonation</a:t>
            </a:r>
            <a:r>
              <a:rPr lang="en-US" dirty="0"/>
              <a:t> table 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DA4DB4-7D6B-5956-6D15-129B60B80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576" y="2037548"/>
            <a:ext cx="3659186" cy="3295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9909EB-1731-1628-A3AB-17F4097E0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870" y="1872994"/>
            <a:ext cx="4656615" cy="31398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C2F3F2-F43E-2F92-8753-757AC2540E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000" r="24136"/>
          <a:stretch/>
        </p:blipFill>
        <p:spPr>
          <a:xfrm>
            <a:off x="7636566" y="3836848"/>
            <a:ext cx="4085386" cy="23519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F9C273-9728-CCEA-BB97-A927150287F2}"/>
              </a:ext>
            </a:extLst>
          </p:cNvPr>
          <p:cNvSpPr txBox="1"/>
          <p:nvPr/>
        </p:nvSpPr>
        <p:spPr>
          <a:xfrm>
            <a:off x="6410739" y="5148470"/>
            <a:ext cx="122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1298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5AE4-76EC-D1F5-EE54-FEC6E653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the postal codes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BDFC39-B7C4-EC6D-DF7A-5784A55BD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635" y="2363686"/>
            <a:ext cx="5942076" cy="3148584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7BF5B7-8677-40B6-ACF2-06900DEC49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64" t="50000" r="19621"/>
          <a:stretch/>
        </p:blipFill>
        <p:spPr>
          <a:xfrm>
            <a:off x="4626996" y="2262698"/>
            <a:ext cx="7227173" cy="31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36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B44D3-1509-73D0-B65A-BCEFB154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7ACC4-DF1B-22F1-5BAC-3B0FA9C78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102" y="3199883"/>
            <a:ext cx="2923288" cy="126043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Creating views</a:t>
            </a:r>
          </a:p>
          <a:p>
            <a:pPr marL="0" indent="0"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Lead: Vimal</a:t>
            </a:r>
            <a:endParaRPr lang="en-US" sz="18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780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B93D0-C030-C6BA-53D2-4D9662209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606" y="125669"/>
            <a:ext cx="10058400" cy="1450757"/>
          </a:xfrm>
        </p:spPr>
        <p:txBody>
          <a:bodyPr/>
          <a:lstStyle/>
          <a:p>
            <a:r>
              <a:rPr lang="en-US" dirty="0"/>
              <a:t>View for donation by date 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D5FB59-DFEA-A76E-00F1-C656856D9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25" y="1983296"/>
            <a:ext cx="5344517" cy="362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105993-C833-0875-3550-6002D81C4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38" y="1983296"/>
            <a:ext cx="5111415" cy="39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2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B7CBB-2AA8-2C57-4646-98FBC73E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donation_summary_by_date</a:t>
            </a:r>
            <a:r>
              <a:rPr lang="en-CA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output</a:t>
            </a:r>
            <a:endParaRPr lang="en-CA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AA1C44-1708-100F-3263-3879E4B0A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1" t="29712" r="24132"/>
          <a:stretch/>
        </p:blipFill>
        <p:spPr bwMode="auto">
          <a:xfrm>
            <a:off x="1941064" y="1983854"/>
            <a:ext cx="7963773" cy="38894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391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1864-2306-19D3-8D1A-36285EC1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for donation by location</a:t>
            </a:r>
            <a:endParaRPr lang="en-CA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C0F4A7-3223-C479-3107-23CA4B374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52" y="2116477"/>
            <a:ext cx="4978919" cy="3314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D3CA00-86CA-1E31-D6C9-0B4E3BA31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232" y="2009587"/>
            <a:ext cx="3873660" cy="411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6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ED8A5-D78C-D1DF-C3CF-037BA9376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donation_summary_by_location</a:t>
            </a:r>
            <a:r>
              <a:rPr lang="en-US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output</a:t>
            </a:r>
            <a:endParaRPr lang="en-CA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175AB1-B264-548A-6D67-ACFB29286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59"/>
          <a:stretch/>
        </p:blipFill>
        <p:spPr bwMode="auto">
          <a:xfrm>
            <a:off x="307311" y="2317412"/>
            <a:ext cx="11166192" cy="31717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10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CC12-F706-D3F3-223C-AB8B46C85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for donation by volunteer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8ED7BF-2F64-2298-7333-265DAEB02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886780"/>
            <a:ext cx="5257800" cy="4016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8595B7-3BAE-5954-5878-D1E44EBED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374" y="1855531"/>
            <a:ext cx="3724465" cy="427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68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5FECE-DB13-2002-FD38-D88D0C6E6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donation_summary_by_volunteer_leader</a:t>
            </a:r>
            <a:endParaRPr lang="en-CA" sz="4400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44289E-FDB8-DB25-0450-F042A4547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17989" y="1867203"/>
            <a:ext cx="8555947" cy="4022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77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7D131-43E0-160E-E3BB-D41783B2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469A0-7749-CC02-70FF-0100C37D2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Create a user named </a:t>
            </a:r>
            <a:r>
              <a:rPr lang="en-US" sz="1600" dirty="0" err="1"/>
              <a:t>DMLUser</a:t>
            </a:r>
            <a:r>
              <a:rPr lang="en-US" sz="1600" dirty="0"/>
              <a:t> and give the user permissions to implement all DML on address, donation, and volunteer tables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Create a user named Dashboard and give the user read permissions on the views</a:t>
            </a:r>
          </a:p>
          <a:p>
            <a:pPr marL="0" indent="0">
              <a:buNone/>
            </a:pPr>
            <a:r>
              <a:rPr lang="en-US" sz="1800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Lead - Vimal</a:t>
            </a:r>
            <a:endParaRPr lang="en-CA" sz="1800" dirty="0">
              <a:effectLst/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5443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706D94-088B-F035-9A74-99B8DEC5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Creating the </a:t>
            </a:r>
            <a:r>
              <a:rPr lang="en-CA" sz="3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DMLUser</a:t>
            </a:r>
            <a:r>
              <a:rPr lang="en-CA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Account</a:t>
            </a:r>
            <a:b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C3F597-830A-3148-5FF1-3D5C92EEE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847972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Query : </a:t>
            </a:r>
          </a:p>
          <a:p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USER </a:t>
            </a:r>
            <a:r>
              <a:rPr lang="en-CA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DMLUser</a:t>
            </a: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IDENTIFIED BY GROUP_07;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sz="1800" b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Granting DML Privileges to </a:t>
            </a:r>
            <a:r>
              <a:rPr lang="en-CA" sz="1800" b="1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DMLUser</a:t>
            </a:r>
            <a:r>
              <a:rPr lang="en-CA" sz="1800" b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CA" sz="1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GRANT INSERT, UPDATE, DELETE, SELECT ON </a:t>
            </a:r>
            <a:r>
              <a:rPr lang="en-CA" sz="1400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prc.address</a:t>
            </a:r>
            <a:r>
              <a:rPr lang="en-CA" sz="1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</a:t>
            </a:r>
            <a:r>
              <a:rPr lang="en-CA" sz="1400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DMLUser</a:t>
            </a:r>
            <a:r>
              <a:rPr lang="en-CA" sz="1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en-CA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CA" sz="1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GRANT INSERT, UPDATE, DELETE, SELECT ON </a:t>
            </a:r>
            <a:r>
              <a:rPr lang="en-CA" sz="1400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prc.donation</a:t>
            </a:r>
            <a:r>
              <a:rPr lang="en-CA" sz="1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</a:t>
            </a:r>
            <a:r>
              <a:rPr lang="en-CA" sz="1400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DMLUser</a:t>
            </a:r>
            <a:r>
              <a:rPr lang="en-CA" sz="1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en-CA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CA" sz="1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GRANT INSERT, UPDATE, DELETE, SELECT ON </a:t>
            </a:r>
            <a:r>
              <a:rPr lang="en-CA" sz="1400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prc.volunteer</a:t>
            </a:r>
            <a:r>
              <a:rPr lang="en-CA" sz="1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</a:t>
            </a:r>
            <a:r>
              <a:rPr lang="en-CA" sz="1400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DMLUser</a:t>
            </a:r>
            <a:r>
              <a:rPr lang="en-CA" sz="1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CA" sz="1800" b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Assigning Additional Roles to </a:t>
            </a:r>
            <a:r>
              <a:rPr lang="en-CA" sz="1800" b="1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DMLUser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CA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GRANT CONNECT, RESOURCE TO </a:t>
            </a:r>
            <a:r>
              <a:rPr lang="en-CA" sz="1800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DMLUser</a:t>
            </a:r>
            <a:r>
              <a:rPr lang="en-CA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endParaRPr lang="en-CA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7F8164-ECC0-34C6-8227-74336A7F0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136" y="2002064"/>
            <a:ext cx="3667127" cy="354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2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11CC4-DC38-D343-6D6C-B1A514FD2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CREATION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5E3F-46C1-F59C-AB41-AA5356D2E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1964488"/>
            <a:ext cx="4224449" cy="2227502"/>
          </a:xfrm>
        </p:spPr>
        <p:txBody>
          <a:bodyPr/>
          <a:lstStyle/>
          <a:p>
            <a:pPr marL="0" indent="0">
              <a:buNone/>
            </a:pPr>
            <a:r>
              <a:rPr lang="en-CA" sz="1200" kern="100" dirty="0">
                <a:solidFill>
                  <a:srgbClr val="000000"/>
                </a:solidFill>
                <a:effectLst/>
                <a:latin typeface="Abadi" panose="020B06040201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USER Dashboard IDENTIFIED BY GROUP_07;</a:t>
            </a:r>
            <a:endParaRPr lang="en-CA" sz="1200" kern="100" dirty="0">
              <a:effectLst/>
              <a:latin typeface="Abadi" panose="020B0604020104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CA" sz="1200" kern="100" dirty="0">
                <a:solidFill>
                  <a:srgbClr val="000000"/>
                </a:solidFill>
                <a:effectLst/>
                <a:latin typeface="Abadi" panose="020B06040201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GRANT CREATE SESSION TO Dashboard;</a:t>
            </a:r>
            <a:endParaRPr lang="en-CA" sz="1200" kern="100" dirty="0">
              <a:effectLst/>
              <a:latin typeface="Abadi" panose="020B0604020104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CA" sz="1400" dirty="0">
                <a:latin typeface="Abadi" panose="020B0604020104020204" pitchFamily="34" charset="0"/>
              </a:rPr>
              <a:t>GRANT SELECT ON </a:t>
            </a:r>
            <a:r>
              <a:rPr lang="en-CA" sz="1400" dirty="0" err="1">
                <a:latin typeface="Abadi" panose="020B0604020104020204" pitchFamily="34" charset="0"/>
              </a:rPr>
              <a:t>datamart.factdonations</a:t>
            </a:r>
            <a:r>
              <a:rPr lang="en-CA" sz="1400" dirty="0">
                <a:latin typeface="Abadi" panose="020B0604020104020204" pitchFamily="34" charset="0"/>
              </a:rPr>
              <a:t> TO </a:t>
            </a:r>
            <a:r>
              <a:rPr lang="en-CA" sz="1400" dirty="0" err="1">
                <a:latin typeface="Abadi" panose="020B0604020104020204" pitchFamily="34" charset="0"/>
              </a:rPr>
              <a:t>prc</a:t>
            </a:r>
            <a:r>
              <a:rPr lang="en-CA" sz="1400" dirty="0">
                <a:latin typeface="Abadi" panose="020B0604020104020204" pitchFamily="34" charset="0"/>
              </a:rPr>
              <a:t>;</a:t>
            </a:r>
          </a:p>
          <a:p>
            <a:pPr marL="0" indent="0">
              <a:buNone/>
            </a:pPr>
            <a:r>
              <a:rPr lang="en-CA" sz="1400" dirty="0">
                <a:latin typeface="Abadi" panose="020B0604020104020204" pitchFamily="34" charset="0"/>
              </a:rPr>
              <a:t>GRANT SELECT ON </a:t>
            </a:r>
            <a:r>
              <a:rPr lang="en-CA" sz="1400" dirty="0" err="1">
                <a:latin typeface="Abadi" panose="020B0604020104020204" pitchFamily="34" charset="0"/>
              </a:rPr>
              <a:t>datamart.dimaddress</a:t>
            </a:r>
            <a:r>
              <a:rPr lang="en-CA" sz="1400" dirty="0">
                <a:latin typeface="Abadi" panose="020B0604020104020204" pitchFamily="34" charset="0"/>
              </a:rPr>
              <a:t> TO </a:t>
            </a:r>
            <a:r>
              <a:rPr lang="en-CA" sz="1400" dirty="0" err="1">
                <a:latin typeface="Abadi" panose="020B0604020104020204" pitchFamily="34" charset="0"/>
              </a:rPr>
              <a:t>prc</a:t>
            </a:r>
            <a:r>
              <a:rPr lang="en-CA" sz="1400" dirty="0">
                <a:latin typeface="Abadi" panose="020B0604020104020204" pitchFamily="34" charset="0"/>
              </a:rPr>
              <a:t>;</a:t>
            </a:r>
          </a:p>
          <a:p>
            <a:pPr marL="0" indent="0">
              <a:buNone/>
            </a:pPr>
            <a:r>
              <a:rPr lang="en-CA" sz="1400" dirty="0">
                <a:latin typeface="Abadi" panose="020B0604020104020204" pitchFamily="34" charset="0"/>
              </a:rPr>
              <a:t>GRANT SELECT ON </a:t>
            </a:r>
            <a:r>
              <a:rPr lang="en-CA" sz="1400" dirty="0" err="1">
                <a:latin typeface="Abadi" panose="020B0604020104020204" pitchFamily="34" charset="0"/>
              </a:rPr>
              <a:t>datamart.dimdate</a:t>
            </a:r>
            <a:r>
              <a:rPr lang="en-CA" sz="1400" dirty="0">
                <a:latin typeface="Abadi" panose="020B0604020104020204" pitchFamily="34" charset="0"/>
              </a:rPr>
              <a:t> TO </a:t>
            </a:r>
            <a:r>
              <a:rPr lang="en-CA" sz="1400" dirty="0" err="1">
                <a:latin typeface="Abadi" panose="020B0604020104020204" pitchFamily="34" charset="0"/>
              </a:rPr>
              <a:t>prc</a:t>
            </a:r>
            <a:r>
              <a:rPr lang="en-CA" sz="1400" dirty="0">
                <a:latin typeface="Abadi" panose="020B0604020104020204" pitchFamily="34" charset="0"/>
              </a:rPr>
              <a:t>;</a:t>
            </a:r>
          </a:p>
          <a:p>
            <a:pPr marL="0" indent="0">
              <a:buNone/>
            </a:pPr>
            <a:r>
              <a:rPr lang="en-CA" sz="1400" dirty="0">
                <a:latin typeface="Abadi" panose="020B0604020104020204" pitchFamily="34" charset="0"/>
              </a:rPr>
              <a:t>GRANT SELECT ON </a:t>
            </a:r>
            <a:r>
              <a:rPr lang="en-CA" sz="1400" dirty="0" err="1">
                <a:latin typeface="Abadi" panose="020B0604020104020204" pitchFamily="34" charset="0"/>
              </a:rPr>
              <a:t>datamart.dimvolunteer</a:t>
            </a:r>
            <a:r>
              <a:rPr lang="en-CA" sz="1400" dirty="0">
                <a:latin typeface="Abadi" panose="020B0604020104020204" pitchFamily="34" charset="0"/>
              </a:rPr>
              <a:t> TO </a:t>
            </a:r>
            <a:r>
              <a:rPr lang="en-CA" sz="1400" dirty="0" err="1">
                <a:latin typeface="Abadi" panose="020B0604020104020204" pitchFamily="34" charset="0"/>
              </a:rPr>
              <a:t>prc</a:t>
            </a:r>
            <a:endParaRPr lang="en-CA" sz="1400" dirty="0">
              <a:latin typeface="Abadi" panose="020B0604020104020204" pitchFamily="34" charset="0"/>
            </a:endParaRPr>
          </a:p>
          <a:p>
            <a:endParaRPr lang="en-CA" dirty="0"/>
          </a:p>
        </p:txBody>
      </p:sp>
      <p:pic>
        <p:nvPicPr>
          <p:cNvPr id="4" name="Picture 3" descr="A white rectangular object with text&#10;&#10;AI-generated content may be incorrect.">
            <a:extLst>
              <a:ext uri="{FF2B5EF4-FFF2-40B4-BE49-F238E27FC236}">
                <a16:creationId xmlns:a16="http://schemas.microsoft.com/office/drawing/2014/main" id="{3AF8330B-270C-C7F7-272F-F0B97462D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899" y="1909998"/>
            <a:ext cx="4224449" cy="1122458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D962EE-1797-26BF-E18F-90581B733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899" y="3327534"/>
            <a:ext cx="4043200" cy="252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7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3B4B5-E71E-25A2-7F5A-9153BD248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GRANTING ACCESS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10D03-7B82-9EBD-A30F-7C500C413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dirty="0"/>
              <a:t>GRANT SELECT ON </a:t>
            </a:r>
            <a:r>
              <a:rPr lang="en-US" sz="1200" dirty="0" err="1"/>
              <a:t>prc.vw_donation_summary_by_location</a:t>
            </a:r>
            <a:r>
              <a:rPr lang="en-US" sz="1200" dirty="0"/>
              <a:t> TO Dashboard;</a:t>
            </a:r>
          </a:p>
          <a:p>
            <a:r>
              <a:rPr lang="en-US" sz="1200" dirty="0"/>
              <a:t>GRANT SELECT ON </a:t>
            </a:r>
            <a:r>
              <a:rPr lang="en-US" sz="1200" dirty="0" err="1"/>
              <a:t>prc.vw_donation_summary_by_date</a:t>
            </a:r>
            <a:r>
              <a:rPr lang="en-US" sz="1200" dirty="0"/>
              <a:t> TO Dashboard;</a:t>
            </a:r>
          </a:p>
          <a:p>
            <a:r>
              <a:rPr lang="en-US" sz="1200" dirty="0"/>
              <a:t>GRANT SELECT ON </a:t>
            </a:r>
            <a:r>
              <a:rPr lang="en-US" sz="1200" dirty="0" err="1"/>
              <a:t>prc.vw_donation_summary_by_volunteer_leader</a:t>
            </a:r>
            <a:r>
              <a:rPr lang="en-US" sz="1200" dirty="0"/>
              <a:t> TO Dashboard;</a:t>
            </a:r>
          </a:p>
          <a:p>
            <a:r>
              <a:rPr lang="en-CA" sz="11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* FROM </a:t>
            </a:r>
            <a:r>
              <a:rPr lang="en-CA" sz="1100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prc.vw_donation_summary_by_location</a:t>
            </a:r>
            <a:r>
              <a:rPr lang="en-CA" sz="11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en-CA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CA" sz="11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* FROM </a:t>
            </a:r>
            <a:r>
              <a:rPr lang="en-CA" sz="1100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prc.vw_donation_summary_by_date</a:t>
            </a:r>
            <a:r>
              <a:rPr lang="en-CA" sz="11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en-CA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CA" sz="11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* FROM </a:t>
            </a:r>
            <a:r>
              <a:rPr lang="en-CA" sz="1100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prc.vw_donation_summary_by_volunteer_leader</a:t>
            </a:r>
            <a:r>
              <a:rPr lang="en-CA" sz="11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en-CA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4EDEE4-6BB3-6257-3577-E2D6A27FAA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486" r="52864"/>
          <a:stretch/>
        </p:blipFill>
        <p:spPr>
          <a:xfrm>
            <a:off x="6410169" y="1890266"/>
            <a:ext cx="1996242" cy="1787016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636BF6-F53D-84F7-E95F-9AE6E1296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3" t="25810" r="33016"/>
          <a:stretch/>
        </p:blipFill>
        <p:spPr>
          <a:xfrm>
            <a:off x="8737467" y="1900075"/>
            <a:ext cx="2749269" cy="17870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26681F-2497-0E7A-1F84-BF68C5BD1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08" y="3949116"/>
            <a:ext cx="4428506" cy="178701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8B82BC-23A1-8F41-8BA8-4AB52044DD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1990"/>
          <a:stretch/>
        </p:blipFill>
        <p:spPr>
          <a:xfrm>
            <a:off x="4886005" y="4167307"/>
            <a:ext cx="2781727" cy="1568825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4B54B0-F6D7-E00A-E2CC-51A51E3120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513" t="12620" r="13417" b="4022"/>
          <a:stretch/>
        </p:blipFill>
        <p:spPr>
          <a:xfrm>
            <a:off x="7782426" y="4167307"/>
            <a:ext cx="4226626" cy="156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24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08117-316E-039C-BC5E-B950349ED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626" y="884595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THANK YOU FOR YOUR TIME!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9174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207</TotalTime>
  <Words>745</Words>
  <Application>Microsoft Office PowerPoint</Application>
  <PresentationFormat>Widescreen</PresentationFormat>
  <Paragraphs>120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Abadi</vt:lpstr>
      <vt:lpstr>Aptos</vt:lpstr>
      <vt:lpstr>Arial</vt:lpstr>
      <vt:lpstr>Calibri</vt:lpstr>
      <vt:lpstr>Calibri Light</vt:lpstr>
      <vt:lpstr>Courier New</vt:lpstr>
      <vt:lpstr>Symbol</vt:lpstr>
      <vt:lpstr>Wingdings</vt:lpstr>
      <vt:lpstr>Retrospect</vt:lpstr>
      <vt:lpstr>DBMS Project – Group 7</vt:lpstr>
      <vt:lpstr>PowerPoint Presentation</vt:lpstr>
      <vt:lpstr>Task 1</vt:lpstr>
      <vt:lpstr>Creating Address Table </vt:lpstr>
      <vt:lpstr>Connection on Talend </vt:lpstr>
      <vt:lpstr>Address table with all values inserted</vt:lpstr>
      <vt:lpstr>Task-2</vt:lpstr>
      <vt:lpstr>Creation of tables</vt:lpstr>
      <vt:lpstr>CSV files (with valid &amp; invalid data)</vt:lpstr>
      <vt:lpstr>Talend Process</vt:lpstr>
      <vt:lpstr>tMap Configuration</vt:lpstr>
      <vt:lpstr>tMap Configuration </vt:lpstr>
      <vt:lpstr>Output</vt:lpstr>
      <vt:lpstr>Task 3</vt:lpstr>
      <vt:lpstr>ER diagram</vt:lpstr>
      <vt:lpstr>Creating Dimention tables for Datamart</vt:lpstr>
      <vt:lpstr>Creating Facts table</vt:lpstr>
      <vt:lpstr>Task 4</vt:lpstr>
      <vt:lpstr>Giving permission to datamart</vt:lpstr>
      <vt:lpstr>Inserting Data into DimDate </vt:lpstr>
      <vt:lpstr>Dimdate table output</vt:lpstr>
      <vt:lpstr>Inserting data into dimvolunteer table</vt:lpstr>
      <vt:lpstr>Inserting data into dimaddress table</vt:lpstr>
      <vt:lpstr>Inserting data into factdonation table </vt:lpstr>
      <vt:lpstr>Fixing the postal codes</vt:lpstr>
      <vt:lpstr>Task 5</vt:lpstr>
      <vt:lpstr>View for donation by date </vt:lpstr>
      <vt:lpstr>donation_summary_by_date output</vt:lpstr>
      <vt:lpstr>View for donation by location</vt:lpstr>
      <vt:lpstr>donation_summary_by_location output</vt:lpstr>
      <vt:lpstr>View for donation by volunteer</vt:lpstr>
      <vt:lpstr>donation_summary_by_volunteer_leader</vt:lpstr>
      <vt:lpstr>TASK 6</vt:lpstr>
      <vt:lpstr>Creating the DMLUser Account </vt:lpstr>
      <vt:lpstr>DASHBOARD CREATION </vt:lpstr>
      <vt:lpstr>GRANTING ACCESS</vt:lpstr>
      <vt:lpstr>THANK YOU FOR YOUR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Pratham Milankumar Doshi</dc:creator>
  <cp:lastModifiedBy>Neel Solanki</cp:lastModifiedBy>
  <cp:revision>6</cp:revision>
  <dcterms:created xsi:type="dcterms:W3CDTF">2025-04-11T00:47:19Z</dcterms:created>
  <dcterms:modified xsi:type="dcterms:W3CDTF">2025-04-13T00:44:29Z</dcterms:modified>
</cp:coreProperties>
</file>